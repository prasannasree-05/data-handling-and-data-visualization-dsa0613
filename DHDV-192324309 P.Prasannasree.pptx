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5" r:id="rId4"/>
    <p:sldId id="258" r:id="rId5"/>
    <p:sldId id="259" r:id="rId6"/>
    <p:sldId id="263" r:id="rId7"/>
    <p:sldId id="276" r:id="rId8"/>
    <p:sldId id="277" r:id="rId9"/>
    <p:sldId id="271" r:id="rId10"/>
    <p:sldId id="279" r:id="rId11"/>
    <p:sldId id="269" r:id="rId12"/>
    <p:sldId id="272" r:id="rId13"/>
    <p:sldId id="270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31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413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EE645A-1299-4121-B597-CB4926AD628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BF38E-D253-4395-B323-E72130C3C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1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120B9-2D44-E588-25A1-469B0B2EA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31DDA-C480-5E1D-962B-50FC1049D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FA53C-61F4-317A-9CF1-4155C5A06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E5B62-6A42-59F6-BAE8-95BFAD0B2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14425-C5DD-1448-5680-6CB73B2B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441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0954-702B-6044-5811-4CB26256F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1E733-B703-F545-F19F-F78561860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FECD9-7040-74AC-8132-B14D132B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F4EC-C89A-C291-3680-73D8E4DD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D0428-8182-5CF4-D927-4A111AAC9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636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FFA9B-A01B-B8C2-B1FB-654152577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2D37F-940B-8E08-24A2-0EF356377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13810-A7ED-32D2-E630-DCAD72D8A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8FBFC-72CE-4CED-B6CD-BE2930800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8F404-67F7-8498-E82A-5C53D8F7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959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438E-53AE-7E66-13E0-ACFDC7DC7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6E34A-29AE-BDCC-DF3A-40D16469B4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ED608-0D16-3FE5-5370-D8E193056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1B3CA-6B48-5D97-BED5-8DB35DC53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86BBB-DB3E-8558-A241-0C1464B7B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371CD-A825-ACAC-156F-86D75333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44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ABCF8-7791-998A-48AA-A6E8AED90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AFFDD-5F81-780C-1A2A-56837F7AB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84AB6-2222-E1F6-45B3-B06B0C8F0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01ADB6-3E13-1AD9-27C4-1464D4CA1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49C74-84E8-E43B-1E07-463DB1125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871A33-9C06-BB6B-697E-35C556E9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03E92D-5756-DB3A-7DB3-A057F198C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B821C4-372B-0D63-05FB-EEA52A77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022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16AD-E577-55F7-48A6-76D2E5A5F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B2894-A424-92DE-FEED-2C414658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6469B-30C7-92D6-7C9E-A4A86007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BF678-A6DE-878C-897E-ACB7A83F7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904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3D2E29-D7D5-FECF-4903-4C9C6CACC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2D845-8A3D-C9E2-A79D-C749A4BB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87435-F445-88D8-CC68-5DD098E5B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31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33890-9248-8634-2BEB-DB27B7F7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2DE9-5CAF-789E-75BF-252274C8C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1F495-2E7D-23C4-60F2-08B335F2A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1A5-5A9C-A245-B4B3-BA3E22BE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CBB77-61E2-E11E-7B45-C95530220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D5D1A-C186-BCAE-92E6-AD337DA7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570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C026-AB7A-4914-37E4-49519B03E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ADF9ED-3911-7DE3-3F99-B6D4775AE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72A95-49C1-1768-02EC-69E00412A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F91C3-6B82-D8AC-1D5F-FA3DBA08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293C0-9C42-680B-53C3-7DD916B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8A0FB-C877-CD77-0323-F66B07C44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8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B2FA-2B25-A19D-5F0C-50CD1DE1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B2AB4-92E6-C7C0-958A-FCC42AE6B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EBACC-402A-F8C0-22F1-39D6D3E6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72076-67DE-9015-B0A9-4E802E5F1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BC196-895C-F98F-BE83-BAC185CB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43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F3D73B-E7B5-CCB5-B149-9C4292624D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87995-453F-0687-90E7-200DDFE5C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E3C1F-76CA-F830-8C59-919D472D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2FACD-B8BF-38D0-A9AE-D1C1FFD2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C5FA3-0EF0-4241-4C62-FE9845AA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358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66E972-B970-A699-B65D-AA615D6BA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60971-54E5-562B-33E1-F79D4D973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DF524-83AC-F7D9-0024-1C04945CE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A2C82-52D6-4550-A378-E2F80769694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CBACC-20BB-6347-121D-FE9E5D2B6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7B194-0BE6-9518-E4C5-A6B32E4ED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340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2236-11F3-3BB5-C58E-F541FA1C3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224" y="2416885"/>
            <a:ext cx="11592448" cy="1306285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Visualization of Electric Vehicle Adoption for Sustainable Transportation Analysis</a:t>
            </a:r>
            <a:br>
              <a:rPr lang="en-B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980623"/>
            <a:ext cx="119508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DSA0608-Data Handling and Visualization with Statistical Foundations </a:t>
            </a:r>
          </a:p>
          <a:p>
            <a:pPr algn="ctr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5802" y="5120679"/>
            <a:ext cx="731441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</a:p>
          <a:p>
            <a:r>
              <a:rPr lang="en-IN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  <a:p>
            <a:r>
              <a:rPr lang="en-IN" sz="2000" dirty="0"/>
              <a:t>Dr. Kumaragurubaran . T</a:t>
            </a:r>
          </a:p>
          <a:p>
            <a:r>
              <a:rPr lang="en-IN" sz="2000" dirty="0"/>
              <a:t>Dr. Senthilvadivu. S</a:t>
            </a:r>
            <a:endParaRPr lang="en-B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900" dirty="0">
              <a:latin typeface="Arial" panose="020B0604020202020204" pitchFamily="34" charset="0"/>
            </a:endParaRP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B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78989" y="5590742"/>
            <a:ext cx="462224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Presented By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P.Prasanna sree(192324309)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Jayasri E(</a:t>
            </a:r>
            <a:r>
              <a:rPr lang="en-US" dirty="0"/>
              <a:t>192424005)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SSE-Computer Science and Engine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554" y="352326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64CAC14-DF9B-AB78-9A4F-ED6B99B96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33" y="35232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5589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458E3-2335-A827-B2FF-691225827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6681" y="1"/>
            <a:ext cx="8390374" cy="288387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Introduction 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0FEC7-0D32-1CEB-43BD-9A7B33B91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360" y="1959853"/>
            <a:ext cx="11940975" cy="3268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31618" y="648866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02</a:t>
            </a:r>
          </a:p>
        </p:txBody>
      </p:sp>
      <p:pic>
        <p:nvPicPr>
          <p:cNvPr id="6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D67E4864-6B03-7575-5CF1-D0116AAD9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360" y="1629622"/>
            <a:ext cx="10877604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Vehicles (EVs) are transforming global mobility and helping reduce dependence on fossil fuels.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Visualizing EV adoption trends enables understanding of how fast and where the transition toward green transport is happening.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 data visualization helps policymakers, manufacturers, and consumers make informed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supports UN Sustainable Development Goals  by promoting clean energy, sustainable cities, and climate 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EV adoption trends to understand how charging stations, government policies, and consumer demand support sustainable transportation.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773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21726"/>
            <a:ext cx="10515600" cy="139324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                      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359" y="1727253"/>
            <a:ext cx="11382489" cy="4609021"/>
          </a:xfrm>
        </p:spPr>
        <p:txBody>
          <a:bodyPr>
            <a:normAutofit lnSpcReduction="10000"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State:-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 adoption is growing worldwide, but available sales and charging-station data is not fully     utilized to understand long-term trends in sustainable transportation.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Challenges:-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Incomplete or inconsistent EV sales and infrastructure data.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linking policy support, charging availability, and EV growth.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Limited visual tools to clearly interpret adoption patterns over time and regions.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Goal:-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Python-based system that preprocesses and visualizes EV adoption     trends, helping policymakers and researchers make informed decisions for sustainable mobility.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5479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235C8-DF93-9DED-2DFA-D52B266DC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372" y="382397"/>
            <a:ext cx="4988560" cy="1342884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8081C-E505-BE39-E44D-275108DB3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895" y="1712218"/>
            <a:ext cx="11566105" cy="4763385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analyze EV registration, charging infrastructure, and emission data.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growth trends across different years, regions, and vehicle categories.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EV adoption rates among nations and states.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the sustainability impact of EV adoption (e.g., CO₂ reduction, energy savings).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forecast future EV demand using predictive visualization models.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85749" y="648866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03</a:t>
            </a:r>
          </a:p>
        </p:txBody>
      </p:sp>
      <p:pic>
        <p:nvPicPr>
          <p:cNvPr id="6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6553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22C5-50B6-71EC-3A8C-33EBBA50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006" y="691022"/>
            <a:ext cx="6822831" cy="1879042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45072" y="655152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04</a:t>
            </a:r>
          </a:p>
        </p:txBody>
      </p:sp>
      <p:pic>
        <p:nvPicPr>
          <p:cNvPr id="7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31730254-9991-A907-7C39-B76C907D3F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967" y="2228302"/>
            <a:ext cx="1163703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show that this growth is driven by falling battery costs and government incentives.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 (EV) adoption has grown rapidly worldwide in the last decade.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highlights that countries like China, Europe, and the U.S. lead in EV sales.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anxiety and lack of charging infrastructure are major barriers found in multiple studies.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research commonly uses time-series graphs to show EV sales over different years.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734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A002-C67E-7137-3ED2-3A80AD5F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6328" y="677220"/>
            <a:ext cx="672151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sz="36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515411" y="641084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07</a:t>
            </a:r>
          </a:p>
        </p:txBody>
      </p:sp>
      <p:pic>
        <p:nvPicPr>
          <p:cNvPr id="6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4B8514A7-3B30-2BD9-DEDB-F76DF63F3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449" y="2084905"/>
            <a:ext cx="9341237" cy="4510609"/>
          </a:xfrm>
        </p:spPr>
      </p:pic>
    </p:spTree>
    <p:extLst>
      <p:ext uri="{BB962C8B-B14F-4D97-AF65-F5344CB8AC3E}">
        <p14:creationId xmlns:p14="http://schemas.microsoft.com/office/powerpoint/2010/main" val="1449098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3;p4">
            <a:extLst>
              <a:ext uri="{FF2B5EF4-FFF2-40B4-BE49-F238E27FC236}">
                <a16:creationId xmlns:a16="http://schemas.microsoft.com/office/drawing/2014/main" id="{8ED4775A-9959-4622-AC89-2046B33CA0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4;p4">
            <a:extLst>
              <a:ext uri="{FF2B5EF4-FFF2-40B4-BE49-F238E27FC236}">
                <a16:creationId xmlns:a16="http://schemas.microsoft.com/office/drawing/2014/main" id="{08815293-3B5B-90D9-A441-E70E75554C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64159C-1A52-1016-BE92-2DEDB6E5F891}"/>
              </a:ext>
            </a:extLst>
          </p:cNvPr>
          <p:cNvSpPr txBox="1"/>
          <p:nvPr/>
        </p:nvSpPr>
        <p:spPr>
          <a:xfrm>
            <a:off x="2901101" y="414474"/>
            <a:ext cx="5536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Module-1</a:t>
            </a:r>
            <a:endParaRPr lang="en-BB" sz="3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156323A-C6A2-6361-FC01-6F0B35D88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361" y="1214483"/>
            <a:ext cx="11838318" cy="7509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B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Visualization of EV Adoption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B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Collecting and cleaning EV sales, registration, and charging station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 and ARIMA forecasting for adoption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Graphs: line charts, bar plots, and heatmaps to visualize growth.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countries, states, or vehicle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top-performing regions and adoption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clear insights into growth rate, market trends, and regional adoption patterns.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BB" altLang="en-BB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BB" altLang="en-B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521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8AED4-52CF-5FC0-4B48-C5CC2E8D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3;p4">
            <a:extLst>
              <a:ext uri="{FF2B5EF4-FFF2-40B4-BE49-F238E27FC236}">
                <a16:creationId xmlns:a16="http://schemas.microsoft.com/office/drawing/2014/main" id="{66CCA6C3-5B91-C7B4-8340-7F7040B4E49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4;p4">
            <a:extLst>
              <a:ext uri="{FF2B5EF4-FFF2-40B4-BE49-F238E27FC236}">
                <a16:creationId xmlns:a16="http://schemas.microsoft.com/office/drawing/2014/main" id="{59A480F0-2B79-DA16-1F7B-96CBFDBAD6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155A3F-6B9E-A503-9505-CB290D50B11D}"/>
              </a:ext>
            </a:extLst>
          </p:cNvPr>
          <p:cNvSpPr txBox="1"/>
          <p:nvPr/>
        </p:nvSpPr>
        <p:spPr>
          <a:xfrm>
            <a:off x="2938232" y="290152"/>
            <a:ext cx="5536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Module-2</a:t>
            </a:r>
            <a:endParaRPr lang="en-B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A2893-0D4D-657A-324A-0287EEE6D7CD}"/>
              </a:ext>
            </a:extLst>
          </p:cNvPr>
          <p:cNvSpPr txBox="1"/>
          <p:nvPr/>
        </p:nvSpPr>
        <p:spPr>
          <a:xfrm>
            <a:off x="900326" y="1001738"/>
            <a:ext cx="10391347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 &amp; Sustainability Analysis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how increased EV use reduces CO₂ emissions and fossil fuel dependency.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emission data before and after EV adoption.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CO₂ reduction trends and renewable energy integration.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Assessing EV contribution toward UN Sustainable Development Goals (SDG 7, 11, and 13).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recommendations for improving sustainability impact.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Outcome:-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how EV adoption supports sustainable transportation and cleaner environments.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B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561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4303" y="1033172"/>
            <a:ext cx="3750294" cy="115788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/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066800"/>
            <a:ext cx="11059049" cy="51101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FFA18C2A-0D44-6160-9C8F-47D6BA5AF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4293" y="2408508"/>
            <a:ext cx="1010295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Programming:R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Tools: Tableau / Power BI for interactive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Models: Linear Regression, Time-Series Forecasting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Metrics: EV penetration rate, CO₂ savings, charging station density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Approach: Data-driven insight generation for sustainability decisions</a:t>
            </a:r>
          </a:p>
        </p:txBody>
      </p:sp>
    </p:spTree>
    <p:extLst>
      <p:ext uri="{BB962C8B-B14F-4D97-AF65-F5344CB8AC3E}">
        <p14:creationId xmlns:p14="http://schemas.microsoft.com/office/powerpoint/2010/main" val="1168891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33;p4">
            <a:extLst>
              <a:ext uri="{FF2B5EF4-FFF2-40B4-BE49-F238E27FC236}">
                <a16:creationId xmlns:a16="http://schemas.microsoft.com/office/drawing/2014/main" id="{DB2853C7-5C0C-C5E2-26B6-4B618AE7C4C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4;p4">
            <a:extLst>
              <a:ext uri="{FF2B5EF4-FFF2-40B4-BE49-F238E27FC236}">
                <a16:creationId xmlns:a16="http://schemas.microsoft.com/office/drawing/2014/main" id="{46B7624A-09B0-A93A-894A-6F57E76AA7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CA3A5E-2AFC-4253-869C-4DB027131E04}"/>
              </a:ext>
            </a:extLst>
          </p:cNvPr>
          <p:cNvSpPr txBox="1"/>
          <p:nvPr/>
        </p:nvSpPr>
        <p:spPr>
          <a:xfrm>
            <a:off x="2500217" y="697254"/>
            <a:ext cx="63145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30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 IMAGE</a:t>
            </a:r>
            <a:endParaRPr lang="en-IN" sz="30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19236A-E9C8-7DBF-24AB-4DBB8B0AE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615" y="1828800"/>
            <a:ext cx="932677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224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095B-5FBA-90F9-22C8-9400AE54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932" y="-673240"/>
            <a:ext cx="7195868" cy="4632761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CC0D7-9F0D-E95B-376A-FD00614CB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361" y="1808703"/>
            <a:ext cx="10515600" cy="50492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br>
              <a:rPr lang="en-US" sz="2400" dirty="0"/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24976" y="636562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pic>
        <p:nvPicPr>
          <p:cNvPr id="6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CD29F8C2-C910-95B0-05C5-6E06A11A656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48020" y="2072522"/>
            <a:ext cx="1072351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 adoption visualization enables evidence-based decision-making for sustainable transport.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shows a clear positive transition toward clean mobility worldwide.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Policy, infrastructure, and public awareness drive adoption rates.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 trend visualization bridges the gap between data and sustainable action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confirms that data visualization is an effective tool to identify adoption gaps and future opportunities for growth.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16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0292" y="808903"/>
            <a:ext cx="702296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78634"/>
            <a:ext cx="11443252" cy="52793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795A740-94F3-BCF0-E63F-079888914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681" y="1956159"/>
            <a:ext cx="1064327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real-time EV monitoring dashboards linked to government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geospatial analysis for charging network optimization.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AI and Machine Learning for predictive adoption modeling.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analysis to include battery recycling and renewable energy integration.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mobile-friendly dashboard for public awareness and EV incentives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visualization to include battery life cycle, recycling, and supply chain sustainability.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772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CDAE-4DA1-EE01-05D1-9BA1A447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392" y="1105911"/>
            <a:ext cx="6544824" cy="732414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References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E68F-0425-B493-77A9-0EFB1DA01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18" y="4976725"/>
            <a:ext cx="11816972" cy="50196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3235" y="627017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pic>
        <p:nvPicPr>
          <p:cNvPr id="6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AF4A25C-CBB2-DDE9-86DF-FDB2904D6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514" y="1595021"/>
            <a:ext cx="1195786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Energy Agency (IEA) (2024).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EV Outlook 2024 – Accelerating Ambitions for Electric Mobility.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NITI Aayog, Government of India (2023).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 Policy and Roadmap for India – Sustainable Mobility Mission 2030.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Statista Research Department (2024).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 Market Growth and Charging Infrastructure Statistics.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Zhang, L., &amp; Li, M. (2023).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“Data-Driven Visualization Techniques for Sustainable Transportation Systems.”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IEEE Access Journal.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Wang, Y., et al. (2022).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“Electric Vehicle Adoption and Infrastructure Expansion: A Global Analysis.”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Elsevier – Energy Policy Journal.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World Bank Group. (2023).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CO₂ Emission Reduction through Electrified Transport.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Ma, R., et al. (2024).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“Predictive Modelling of EV Trends Using Data Analytics.”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Springer – Sustainable Computing: Informatics and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Council on Clean Transportation (ICCT). (2024).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 Uptake and Policy.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54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2785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934</Words>
  <Application>Microsoft Office PowerPoint</Application>
  <PresentationFormat>Widescreen</PresentationFormat>
  <Paragraphs>147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Office Theme</vt:lpstr>
      <vt:lpstr> Trend Visualization of Electric Vehicle Adoption for Sustainable Transportation Analysis </vt:lpstr>
      <vt:lpstr>       Introduction  </vt:lpstr>
      <vt:lpstr>P                         Problem Statement</vt:lpstr>
      <vt:lpstr>Objectives</vt:lpstr>
      <vt:lpstr>Literature Survey </vt:lpstr>
      <vt:lpstr>Block Diagram</vt:lpstr>
      <vt:lpstr>PowerPoint Presentation</vt:lpstr>
      <vt:lpstr>PowerPoint Presentation</vt:lpstr>
      <vt:lpstr>Tools / Techniques</vt:lpstr>
      <vt:lpstr>PowerPoint Presentation</vt:lpstr>
      <vt:lpstr>Conclusion </vt:lpstr>
      <vt:lpstr>Future Work</vt:lpstr>
      <vt:lpstr>           References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Query–Driven Inventory Management for Blood Stock Monitoring and Forecasting</dc:title>
  <dc:creator>monisha pathipati</dc:creator>
  <cp:lastModifiedBy>Prasanna Sree</cp:lastModifiedBy>
  <cp:revision>41</cp:revision>
  <dcterms:created xsi:type="dcterms:W3CDTF">2025-09-11T07:36:01Z</dcterms:created>
  <dcterms:modified xsi:type="dcterms:W3CDTF">2026-02-03T18:13:41Z</dcterms:modified>
</cp:coreProperties>
</file>